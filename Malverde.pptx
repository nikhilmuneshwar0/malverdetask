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4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17E04D9-07D4-4ECB-924E-5F2741A223E5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4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599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071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76212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66709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173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47024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83332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3901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6354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3947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0449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27CAF6-0356-428F-8D9F-AD7879173369}" type="datetimeFigureOut">
              <a:rPr lang="en-GB" smtClean="0"/>
              <a:t>08/05/2026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BE393B-D79F-4245-B3D8-F36F001C68E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759039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FD7CCD-BC80-E05D-46CD-BEAB2086F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6655" y="637762"/>
            <a:ext cx="5737717" cy="5576770"/>
          </a:xfrm>
        </p:spPr>
        <p:txBody>
          <a:bodyPr anchor="ctr">
            <a:normAutofit/>
          </a:bodyPr>
          <a:lstStyle/>
          <a:p>
            <a:pPr algn="l"/>
            <a:r>
              <a:rPr lang="en-GB" sz="8800" dirty="0" err="1"/>
              <a:t>Malverde</a:t>
            </a:r>
            <a:endParaRPr lang="en-GB" sz="8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5EE37-9A77-64FF-1D7F-6D9B31FEE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2417" y="637762"/>
            <a:ext cx="2902928" cy="5576770"/>
          </a:xfrm>
        </p:spPr>
        <p:txBody>
          <a:bodyPr anchor="ctr">
            <a:normAutofit/>
          </a:bodyPr>
          <a:lstStyle/>
          <a:p>
            <a:pPr algn="l"/>
            <a:r>
              <a:rPr lang="en-GB" sz="3600" dirty="0"/>
              <a:t>Nikhil Muneshwar</a:t>
            </a:r>
          </a:p>
        </p:txBody>
      </p:sp>
    </p:spTree>
    <p:extLst>
      <p:ext uri="{BB962C8B-B14F-4D97-AF65-F5344CB8AC3E}">
        <p14:creationId xmlns:p14="http://schemas.microsoft.com/office/powerpoint/2010/main" val="33890245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3942-2E89-BB7E-B87B-209CEE796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r>
              <a:rPr lang="en-GB" sz="4000" dirty="0"/>
              <a:t>Data Types given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AC402D-E37C-D788-3886-9A0B8E9FF9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Non-Ideal data types</a:t>
            </a:r>
          </a:p>
          <a:p>
            <a:pPr marL="0" indent="0">
              <a:buNone/>
            </a:pPr>
            <a:endParaRPr lang="en-GB" sz="2000" dirty="0"/>
          </a:p>
        </p:txBody>
      </p:sp>
      <p:pic>
        <p:nvPicPr>
          <p:cNvPr id="5" name="Picture 4" descr="The image appears to be a structured data table or list, possibly a database or spreadsheet, detailing various attributes of entities, such as names, IDs, addresses, and other specific information.&#10;&#10;AI-generated content may be incorrect.">
            <a:extLst>
              <a:ext uri="{FF2B5EF4-FFF2-40B4-BE49-F238E27FC236}">
                <a16:creationId xmlns:a16="http://schemas.microsoft.com/office/drawing/2014/main" id="{9AA23D55-A9FD-BC62-09C5-5907F1BE8A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458" y="637762"/>
            <a:ext cx="2781761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0852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3" name="Rectangle 1032">
            <a:extLst>
              <a:ext uri="{FF2B5EF4-FFF2-40B4-BE49-F238E27FC236}">
                <a16:creationId xmlns:a16="http://schemas.microsoft.com/office/drawing/2014/main" id="{3AFE8227-C443-417B-BA91-520EB1EF45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48D0C2D-23E2-7C70-BAC7-F6920F4AD2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0" r="2" b="2"/>
          <a:stretch>
            <a:fillRect/>
          </a:stretch>
        </p:blipFill>
        <p:spPr bwMode="auto">
          <a:xfrm>
            <a:off x="-273757" y="81711"/>
            <a:ext cx="8115280" cy="6408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0" name="Content Placeholder 1029">
            <a:extLst>
              <a:ext uri="{FF2B5EF4-FFF2-40B4-BE49-F238E27FC236}">
                <a16:creationId xmlns:a16="http://schemas.microsoft.com/office/drawing/2014/main" id="{A0B6CD39-A0AE-9BFF-016A-466147FCC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39993" y="894408"/>
            <a:ext cx="2942813" cy="3540265"/>
          </a:xfrm>
        </p:spPr>
        <p:txBody>
          <a:bodyPr>
            <a:normAutofit/>
          </a:bodyPr>
          <a:lstStyle/>
          <a:p>
            <a:r>
              <a:rPr lang="en-US" sz="2000" dirty="0"/>
              <a:t>HIN, whole column is empty</a:t>
            </a:r>
          </a:p>
          <a:p>
            <a:r>
              <a:rPr lang="en-US" sz="2000" dirty="0"/>
              <a:t>Many Missing values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907741FC-B544-4A6E-B831-6789D0423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6408741"/>
            <a:ext cx="12191998" cy="457202"/>
          </a:xfrm>
          <a:prstGeom prst="rect">
            <a:avLst/>
          </a:prstGeom>
          <a:gradFill>
            <a:gsLst>
              <a:gs pos="34000">
                <a:srgbClr val="000000">
                  <a:alpha val="96000"/>
                </a:srgbClr>
              </a:gs>
              <a:gs pos="100000">
                <a:schemeClr val="accent1"/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F0BE7ED-7814-4273-B18A-F26CC03803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6408742"/>
            <a:ext cx="8115300" cy="449258"/>
          </a:xfrm>
          <a:prstGeom prst="rect">
            <a:avLst/>
          </a:prstGeom>
          <a:gradFill>
            <a:gsLst>
              <a:gs pos="28000">
                <a:schemeClr val="accent1">
                  <a:lumMod val="75000"/>
                  <a:alpha val="59000"/>
                </a:schemeClr>
              </a:gs>
              <a:gs pos="100000">
                <a:srgbClr val="000000">
                  <a:alpha val="70000"/>
                </a:srgb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42C2CBD0-CCBC-4BA5-B81C-1072777F39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7" b="3122"/>
          <a:stretch>
            <a:fillRect/>
          </a:stretch>
        </p:blipFill>
        <p:spPr bwMode="auto">
          <a:xfrm>
            <a:off x="670155" y="205902"/>
            <a:ext cx="8821573" cy="4649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3" name="Content Placeholder 2070">
            <a:extLst>
              <a:ext uri="{FF2B5EF4-FFF2-40B4-BE49-F238E27FC236}">
                <a16:creationId xmlns:a16="http://schemas.microsoft.com/office/drawing/2014/main" id="{9C368C3D-CE2B-A1D3-405E-D46601BDB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6203" y="5207000"/>
            <a:ext cx="8931396" cy="1024467"/>
          </a:xfrm>
        </p:spPr>
        <p:txBody>
          <a:bodyPr>
            <a:normAutofit/>
          </a:bodyPr>
          <a:lstStyle/>
          <a:p>
            <a:r>
              <a:rPr lang="en-US" sz="2000" dirty="0"/>
              <a:t>The Duplication rate is high.</a:t>
            </a:r>
          </a:p>
          <a:p>
            <a:r>
              <a:rPr lang="en-US" sz="2000" dirty="0"/>
              <a:t>Multiple values in cols like Name type, gender, etc. Further Investigation needed.</a:t>
            </a:r>
          </a:p>
        </p:txBody>
      </p:sp>
    </p:spTree>
    <p:extLst>
      <p:ext uri="{BB962C8B-B14F-4D97-AF65-F5344CB8AC3E}">
        <p14:creationId xmlns:p14="http://schemas.microsoft.com/office/powerpoint/2010/main" val="3886760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59C99-4F22-17CD-003A-810890055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669925"/>
            <a:ext cx="4151304" cy="1325563"/>
          </a:xfrm>
        </p:spPr>
        <p:txBody>
          <a:bodyPr anchor="b">
            <a:normAutofit/>
          </a:bodyPr>
          <a:lstStyle/>
          <a:p>
            <a:r>
              <a:rPr lang="en-GB" dirty="0"/>
              <a:t>After Investigation.</a:t>
            </a:r>
          </a:p>
        </p:txBody>
      </p:sp>
      <p:sp>
        <p:nvSpPr>
          <p:cNvPr id="30" name="Content Placeholder 14">
            <a:extLst>
              <a:ext uri="{FF2B5EF4-FFF2-40B4-BE49-F238E27FC236}">
                <a16:creationId xmlns:a16="http://schemas.microsoft.com/office/drawing/2014/main" id="{5FAC76C6-F790-6A4E-2446-FEB802DFC9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2288833"/>
            <a:ext cx="4151304" cy="3711571"/>
          </a:xfrm>
        </p:spPr>
        <p:txBody>
          <a:bodyPr>
            <a:normAutofit/>
          </a:bodyPr>
          <a:lstStyle/>
          <a:p>
            <a:r>
              <a:rPr lang="en-US" sz="2000" dirty="0"/>
              <a:t>In names, same names are repeated multiple times.</a:t>
            </a:r>
          </a:p>
          <a:p>
            <a:r>
              <a:rPr lang="en-US" sz="2000" dirty="0"/>
              <a:t>The same goes for Name type, gender, Type of ship, etc.</a:t>
            </a:r>
          </a:p>
        </p:txBody>
      </p:sp>
      <p:pic>
        <p:nvPicPr>
          <p:cNvPr id="9" name="Picture 8" descr="The image appears to be a table or dataset displaying information on various names, including counts, types, and some missing values.&#10;&#10;AI-generated content may be incorrect.">
            <a:extLst>
              <a:ext uri="{FF2B5EF4-FFF2-40B4-BE49-F238E27FC236}">
                <a16:creationId xmlns:a16="http://schemas.microsoft.com/office/drawing/2014/main" id="{47487FCF-729E-EE6B-07B4-D9B3C4FBD9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1533" y="233581"/>
            <a:ext cx="2439919" cy="4112225"/>
          </a:xfrm>
          <a:prstGeom prst="rect">
            <a:avLst/>
          </a:prstGeom>
        </p:spPr>
      </p:pic>
      <p:pic>
        <p:nvPicPr>
          <p:cNvPr id="11" name="Picture 10" descr="The image displays a table summarizing different types of ships and their counts, with categories such as oil tankers, general cargo, chemical carriers, and others.">
            <a:extLst>
              <a:ext uri="{FF2B5EF4-FFF2-40B4-BE49-F238E27FC236}">
                <a16:creationId xmlns:a16="http://schemas.microsoft.com/office/drawing/2014/main" id="{23C7108D-672B-71C5-B808-8D991C3C23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4645" y="901661"/>
            <a:ext cx="2971800" cy="2303721"/>
          </a:xfrm>
          <a:prstGeom prst="rect">
            <a:avLst/>
          </a:prstGeom>
        </p:spPr>
      </p:pic>
      <p:pic>
        <p:nvPicPr>
          <p:cNvPr id="7" name="Content Placeholder 6" descr="The image displays a Pandas DataFrame showing the count of various name types, including 'Alias', 'Primary Name', and 'Primary Name Variation'.&#10;&#10;AI-generated content may be incorrect.">
            <a:extLst>
              <a:ext uri="{FF2B5EF4-FFF2-40B4-BE49-F238E27FC236}">
                <a16:creationId xmlns:a16="http://schemas.microsoft.com/office/drawing/2014/main" id="{AACAC79E-56A1-A2DC-50C5-9AD0AF60BD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9652" y="4506912"/>
            <a:ext cx="2971800" cy="1617742"/>
          </a:xfrm>
          <a:prstGeom prst="rect">
            <a:avLst/>
          </a:prstGeom>
        </p:spPr>
      </p:pic>
      <p:pic>
        <p:nvPicPr>
          <p:cNvPr id="5" name="Picture 4" descr="The image displays a pandas DataFrame output showing the count of different genders, with 'Male' having the highest count of 9764, followed by 'Female' with counts of 845, 25, and 8, respectively.&#10;&#10;AI-generated content may be incorrect.">
            <a:extLst>
              <a:ext uri="{FF2B5EF4-FFF2-40B4-BE49-F238E27FC236}">
                <a16:creationId xmlns:a16="http://schemas.microsoft.com/office/drawing/2014/main" id="{4CA3512A-AFBB-B4EB-3B5C-CD716E287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74645" y="4219045"/>
            <a:ext cx="2971800" cy="1598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8889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6F8419-B3E0-A725-6CC8-15CA1C4005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10285" y="741391"/>
            <a:ext cx="3443514" cy="1616203"/>
          </a:xfrm>
        </p:spPr>
        <p:txBody>
          <a:bodyPr anchor="b">
            <a:normAutofit/>
          </a:bodyPr>
          <a:lstStyle/>
          <a:p>
            <a:endParaRPr lang="en-GB" sz="3200" dirty="0"/>
          </a:p>
        </p:txBody>
      </p:sp>
      <p:pic>
        <p:nvPicPr>
          <p:cNvPr id="5" name="Picture 4" descr="The image displays a DataFrame or table with two columns, 'Name 6' and 'count', listing various names and their associated counts, showing that 'Adam' and 'Kony' have increased visibility or tracking numbers.&#10;&#10;AI-generated content may be incorrect.">
            <a:extLst>
              <a:ext uri="{FF2B5EF4-FFF2-40B4-BE49-F238E27FC236}">
                <a16:creationId xmlns:a16="http://schemas.microsoft.com/office/drawing/2014/main" id="{FA790FB7-5468-5923-5D7B-44A1DA6189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50" b="1"/>
          <a:stretch>
            <a:fillRect/>
          </a:stretch>
        </p:blipFill>
        <p:spPr>
          <a:xfrm>
            <a:off x="147034" y="365760"/>
            <a:ext cx="7479750" cy="5872480"/>
          </a:xfrm>
          <a:prstGeom prst="rect">
            <a:avLst/>
          </a:prstGeom>
        </p:spPr>
      </p:pic>
      <p:sp>
        <p:nvSpPr>
          <p:cNvPr id="24" name="Content Placeholder 2">
            <a:extLst>
              <a:ext uri="{FF2B5EF4-FFF2-40B4-BE49-F238E27FC236}">
                <a16:creationId xmlns:a16="http://schemas.microsoft.com/office/drawing/2014/main" id="{92BD3A2A-8D84-858E-54C7-E7EA7CB232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GB" sz="2000" dirty="0"/>
              <a:t>After normalizing and striping names, Gender Etc, </a:t>
            </a:r>
          </a:p>
          <a:p>
            <a:r>
              <a:rPr lang="en-GB" sz="2000" dirty="0"/>
              <a:t>We are able to get Good results for visibility and tracking. 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5295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694A9-A43F-BF56-4C65-2E7986146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D211E-4595-6315-FCD9-CA5D349F64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Combined name column as a quality-of-life measure.</a:t>
            </a:r>
          </a:p>
          <a:p>
            <a:r>
              <a:rPr lang="en-GB" sz="2000" dirty="0"/>
              <a:t>Can check the full name in one cell instead of scrolling.</a:t>
            </a:r>
          </a:p>
        </p:txBody>
      </p:sp>
      <p:pic>
        <p:nvPicPr>
          <p:cNvPr id="5" name="Picture 4" descr="The image displays a table with various names, some of which are combined into a single column, and includes missing values (NaN).&#10;&#10;AI-generated content may be incorrect.">
            <a:extLst>
              <a:ext uri="{FF2B5EF4-FFF2-40B4-BE49-F238E27FC236}">
                <a16:creationId xmlns:a16="http://schemas.microsoft.com/office/drawing/2014/main" id="{75944FEE-2174-0D52-5F45-3DCC2B5C35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806692"/>
            <a:ext cx="5725584" cy="5238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448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5DC07D-1894-AF42-6174-92CAD5B08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4650" y="637763"/>
            <a:ext cx="4310698" cy="1627274"/>
          </a:xfrm>
        </p:spPr>
        <p:txBody>
          <a:bodyPr anchor="t">
            <a:normAutofit/>
          </a:bodyPr>
          <a:lstStyle/>
          <a:p>
            <a:endParaRPr lang="en-GB" sz="48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8530E4A-32D1-89BA-662A-5B0BC75354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3361" y="2580829"/>
            <a:ext cx="4311983" cy="3633696"/>
          </a:xfrm>
        </p:spPr>
        <p:txBody>
          <a:bodyPr>
            <a:normAutofit/>
          </a:bodyPr>
          <a:lstStyle/>
          <a:p>
            <a:r>
              <a:rPr lang="en-US" sz="2000" dirty="0"/>
              <a:t>The same problem as other string columns</a:t>
            </a:r>
          </a:p>
          <a:p>
            <a:r>
              <a:rPr lang="en-US" sz="2000" dirty="0"/>
              <a:t>This also needs the same treatment.</a:t>
            </a:r>
          </a:p>
        </p:txBody>
      </p:sp>
      <p:pic>
        <p:nvPicPr>
          <p:cNvPr id="5" name="Content Placeholder 4" descr="The image displays a data snippet, likely from a pandas DataFrame, showing a list of phone numbers with their corresponding counts, sorted in descending order.&#10;&#10;AI-generated content may be incorrect.">
            <a:extLst>
              <a:ext uri="{FF2B5EF4-FFF2-40B4-BE49-F238E27FC236}">
                <a16:creationId xmlns:a16="http://schemas.microsoft.com/office/drawing/2014/main" id="{8C00AFED-0C86-5118-C02E-A0BE25DCFC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511" y="1026161"/>
            <a:ext cx="5186988" cy="401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5208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7B795-92A7-FBA5-C0DB-2D3897C4EB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BA3988-3BF8-D641-C8E8-F88387C6C2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Small function that strips, removes – signs</a:t>
            </a:r>
          </a:p>
          <a:p>
            <a:r>
              <a:rPr lang="en-GB" sz="2000" dirty="0"/>
              <a:t>Removes non digital character</a:t>
            </a:r>
          </a:p>
          <a:p>
            <a:r>
              <a:rPr lang="en-GB" sz="2000" dirty="0"/>
              <a:t>Keeps + sign.</a:t>
            </a:r>
          </a:p>
        </p:txBody>
      </p:sp>
      <p:pic>
        <p:nvPicPr>
          <p:cNvPr id="5" name="Picture 4" descr="A Python function is used to clean and format phone numbers by removing non-digit characters and handling special cases like international codes.&#10;&#10;AI-generated content may be incorrect.">
            <a:extLst>
              <a:ext uri="{FF2B5EF4-FFF2-40B4-BE49-F238E27FC236}">
                <a16:creationId xmlns:a16="http://schemas.microsoft.com/office/drawing/2014/main" id="{386F5F98-DBB0-C25C-9B60-FC3503FE97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963" y="637762"/>
            <a:ext cx="4140751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75268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B2559-FFA8-2010-17C6-4F9970A9F8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8813FC15-9E45-3D21-CC32-20C4D16286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US" sz="2000" dirty="0"/>
              <a:t>DOB col is saved as object (string) data type.</a:t>
            </a:r>
          </a:p>
          <a:p>
            <a:r>
              <a:rPr lang="en-US" sz="2000" dirty="0"/>
              <a:t>Problem for downstream pipelines</a:t>
            </a:r>
          </a:p>
        </p:txBody>
      </p:sp>
      <p:pic>
        <p:nvPicPr>
          <p:cNvPr id="5" name="Content Placeholder 4" descr="The image displays a sorted list of dates, with the most common date being December 26, 1955, and the least common being March 4, 1965.&#10;&#10;AI-generated content may be incorrect.">
            <a:extLst>
              <a:ext uri="{FF2B5EF4-FFF2-40B4-BE49-F238E27FC236}">
                <a16:creationId xmlns:a16="http://schemas.microsoft.com/office/drawing/2014/main" id="{3932A0A1-B453-E761-E7BC-70B785680B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2237" y="637762"/>
            <a:ext cx="3792204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8062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A0858-B68C-C875-AD8D-087F96ABAB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98F0D-4933-5882-4F69-0A3BF454EE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Where dd/mm </a:t>
            </a:r>
            <a:r>
              <a:rPr lang="en-GB" sz="2000" dirty="0" err="1"/>
              <a:t>infor</a:t>
            </a:r>
            <a:r>
              <a:rPr lang="en-GB" sz="2000" dirty="0"/>
              <a:t> is not available we can keep them as 01/01/</a:t>
            </a:r>
            <a:r>
              <a:rPr lang="en-GB" sz="2000" dirty="0" err="1"/>
              <a:t>yyyy</a:t>
            </a:r>
            <a:r>
              <a:rPr lang="en-GB" sz="2000" dirty="0"/>
              <a:t> to convert them.</a:t>
            </a:r>
          </a:p>
          <a:p>
            <a:endParaRPr lang="en-GB" sz="2000" dirty="0"/>
          </a:p>
        </p:txBody>
      </p:sp>
      <p:pic>
        <p:nvPicPr>
          <p:cNvPr id="5" name="Picture 4" descr="The image displays a snippet of Python code, including a function for parsing date of birth (D.O.B.) data, and a printout of a DataFrame showing sample D.O.B. and D.O.B. Clean values.&#10;&#10;AI-generated content may be incorrect.">
            <a:extLst>
              <a:ext uri="{FF2B5EF4-FFF2-40B4-BE49-F238E27FC236}">
                <a16:creationId xmlns:a16="http://schemas.microsoft.com/office/drawing/2014/main" id="{9C74D5EC-3D2F-565C-8B32-734B6D50CE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689" y="637762"/>
            <a:ext cx="4489300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4841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EC4E3-5D36-2D64-934D-2333808E8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695E7-A5F8-58C8-236A-895FE8C43D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Parsing other date object (string) data types to datetime.</a:t>
            </a:r>
          </a:p>
        </p:txBody>
      </p:sp>
      <p:pic>
        <p:nvPicPr>
          <p:cNvPr id="5" name="Picture 4" descr="The image displays a segment of a DataFrame with a datetime column titled 'Last Updated,' showcasing a sequence of updated entries.&#10;&#10;AI-generated content may be incorrect.">
            <a:extLst>
              <a:ext uri="{FF2B5EF4-FFF2-40B4-BE49-F238E27FC236}">
                <a16:creationId xmlns:a16="http://schemas.microsoft.com/office/drawing/2014/main" id="{0F6C6754-A5A9-267C-6AB0-80DC5D9D44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751" y="1463574"/>
            <a:ext cx="6470539" cy="3930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092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 descr=".0&#10;&#10;AI-generated content may be incorrect.">
            <a:extLst>
              <a:ext uri="{FF2B5EF4-FFF2-40B4-BE49-F238E27FC236}">
                <a16:creationId xmlns:a16="http://schemas.microsoft.com/office/drawing/2014/main" id="{FC49FD8E-696B-4F5C-3E97-E04B4F5611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019" b="-1"/>
          <a:stretch>
            <a:fillRect/>
          </a:stretch>
        </p:blipFill>
        <p:spPr>
          <a:xfrm>
            <a:off x="787114" y="1575260"/>
            <a:ext cx="6449549" cy="3636838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C876CA1-6E0B-30BF-E5C3-80103E0BC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0285" y="2533476"/>
            <a:ext cx="3443514" cy="3447832"/>
          </a:xfrm>
        </p:spPr>
        <p:txBody>
          <a:bodyPr anchor="t">
            <a:normAutofit/>
          </a:bodyPr>
          <a:lstStyle/>
          <a:p>
            <a:r>
              <a:rPr lang="en-US" sz="2000" dirty="0"/>
              <a:t>They are saved as floats</a:t>
            </a:r>
          </a:p>
          <a:p>
            <a:r>
              <a:rPr lang="en-US" sz="2000" dirty="0"/>
              <a:t>Convert them to strings as it is an ID.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1C49F18-8757-4E87-5C2E-9D6D7B82BA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5025" y="6737718"/>
            <a:ext cx="12207200" cy="123363"/>
            <a:chOff x="-5025" y="6737718"/>
            <a:chExt cx="12207200" cy="123363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25C84D91-E5BF-B919-ACEF-4A25262CE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H="1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D889E38-27CA-E23F-B646-8D7B4BB17D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29742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E0336B-82FD-E0E9-51DD-D036F658E0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endParaRPr lang="en-GB" sz="320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shows a data frame with a column named 'Full_Address' containing concatenated address components for various locations, which have been trimmed and combined for easier matching.&#10;&#10;AI-generated content may be incorrect.">
            <a:extLst>
              <a:ext uri="{FF2B5EF4-FFF2-40B4-BE49-F238E27FC236}">
                <a16:creationId xmlns:a16="http://schemas.microsoft.com/office/drawing/2014/main" id="{7FE84FBD-FAC0-C5CE-652A-7E5E7CA079C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925" r="-2" b="11426"/>
          <a:stretch>
            <a:fillRect/>
          </a:stretch>
        </p:blipFill>
        <p:spPr>
          <a:xfrm>
            <a:off x="450553" y="1554480"/>
            <a:ext cx="6755537" cy="3322320"/>
          </a:xfrm>
          <a:prstGeom prst="rect">
            <a:avLst/>
          </a:prstGeom>
        </p:spPr>
      </p:pic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Content Placeholder 2">
            <a:extLst>
              <a:ext uri="{FF2B5EF4-FFF2-40B4-BE49-F238E27FC236}">
                <a16:creationId xmlns:a16="http://schemas.microsoft.com/office/drawing/2014/main" id="{E2FE7D47-A353-0104-5A75-80C61A8EA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n-GB" sz="2000"/>
              <a:t>Again, quality of life measure with address columns, we combine them into one column for easier tracking.</a:t>
            </a:r>
          </a:p>
        </p:txBody>
      </p:sp>
    </p:spTree>
    <p:extLst>
      <p:ext uri="{BB962C8B-B14F-4D97-AF65-F5344CB8AC3E}">
        <p14:creationId xmlns:p14="http://schemas.microsoft.com/office/powerpoint/2010/main" val="373233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CEDBC0-9872-199E-0BD8-002EC1F7A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2" y="637763"/>
            <a:ext cx="2568804" cy="1631641"/>
          </a:xfrm>
        </p:spPr>
        <p:txBody>
          <a:bodyPr anchor="t">
            <a:normAutofit/>
          </a:bodyPr>
          <a:lstStyle/>
          <a:p>
            <a:endParaRPr lang="en-GB" sz="32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9F05B5-D69E-E616-9071-31886BFD7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8114" y="3000923"/>
            <a:ext cx="2557542" cy="3176039"/>
          </a:xfrm>
        </p:spPr>
        <p:txBody>
          <a:bodyPr>
            <a:normAutofit/>
          </a:bodyPr>
          <a:lstStyle/>
          <a:p>
            <a:r>
              <a:rPr lang="en-GB" sz="1600" dirty="0"/>
              <a:t>Getting Nationalities for further analysis.</a:t>
            </a:r>
          </a:p>
        </p:txBody>
      </p:sp>
      <p:pic>
        <p:nvPicPr>
          <p:cNvPr id="5" name="Picture 4" descr="The image displays a DataFrame column titled 'Nationality(/ies)' with a count of occurrences, sorted in descending order, including various countries and a 'NaN' entry.&#10;&#10;AI-generated content may be incorrect.">
            <a:extLst>
              <a:ext uri="{FF2B5EF4-FFF2-40B4-BE49-F238E27FC236}">
                <a16:creationId xmlns:a16="http://schemas.microsoft.com/office/drawing/2014/main" id="{DE64C4A7-88F3-8D29-7736-C9D256F3009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" b="635"/>
          <a:stretch>
            <a:fillRect/>
          </a:stretch>
        </p:blipFill>
        <p:spPr>
          <a:xfrm>
            <a:off x="4666834" y="637761"/>
            <a:ext cx="6365960" cy="5576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95504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A93531-99C3-646F-0AE3-EC77E00CC7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8835B-EA19-52E3-5E54-4485B8319D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Cleaning the NIN</a:t>
            </a:r>
          </a:p>
        </p:txBody>
      </p:sp>
      <p:pic>
        <p:nvPicPr>
          <p:cNvPr id="5" name="Picture 4" descr="The image shows a data snippet displaying the top 20 most frequent values in a column labeled 'count' from a pandas DataFrame, including National Identifier numbers and other numerical data.&#10;&#10;AI-generated content may be incorrect.">
            <a:extLst>
              <a:ext uri="{FF2B5EF4-FFF2-40B4-BE49-F238E27FC236}">
                <a16:creationId xmlns:a16="http://schemas.microsoft.com/office/drawing/2014/main" id="{E3FA9438-6510-556D-ADE5-CFD6C1C0B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757974"/>
            <a:ext cx="5725584" cy="5336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69441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4BA24-8641-861F-DB6F-69C8D75E9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550AF9-1CE0-C786-9A0E-7586C14326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Storing them in a new column, to not dirty the original data.</a:t>
            </a:r>
          </a:p>
        </p:txBody>
      </p:sp>
      <p:pic>
        <p:nvPicPr>
          <p:cNvPr id="5" name="Picture 4" descr="The image displays a code snippet in a dark background, showcasing a Python function for cleaning up identifiers in a DataFrame, followed by a display of the top 20 most frequent cleaned identifiers.&#10;&#10;AI-generated content may be incorrect.">
            <a:extLst>
              <a:ext uri="{FF2B5EF4-FFF2-40B4-BE49-F238E27FC236}">
                <a16:creationId xmlns:a16="http://schemas.microsoft.com/office/drawing/2014/main" id="{ED8683AF-E19D-99DB-CFF8-434AB2D613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1071501"/>
            <a:ext cx="5725584" cy="4709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068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0506D9-1F84-7B53-04FC-62C84C5072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endParaRPr lang="en-GB" sz="32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258E26-439A-0C91-6898-E75C69D4EF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n-GB" sz="2000" dirty="0"/>
              <a:t>Multiple sanctions </a:t>
            </a:r>
          </a:p>
          <a:p>
            <a:r>
              <a:rPr lang="en-GB" sz="2000" dirty="0"/>
              <a:t>Pipe separator used</a:t>
            </a:r>
          </a:p>
          <a:p>
            <a:r>
              <a:rPr lang="en-GB" sz="2000" dirty="0"/>
              <a:t>Could be useful for analysis downstream.</a:t>
            </a:r>
          </a:p>
        </p:txBody>
      </p:sp>
      <p:pic>
        <p:nvPicPr>
          <p:cNvPr id="5" name="Picture 4" descr="The image content appears to be a data table or list, showing various types of sanctions imposed, such as asset freezes, travel bans, and others, with the number of instances for each.&#10;&#10;AI-generated content may be incorrect.">
            <a:extLst>
              <a:ext uri="{FF2B5EF4-FFF2-40B4-BE49-F238E27FC236}">
                <a16:creationId xmlns:a16="http://schemas.microsoft.com/office/drawing/2014/main" id="{65D5801C-7C26-72FB-B3A5-7E545A7A2A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17" y="871146"/>
            <a:ext cx="6907222" cy="5284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648434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2599A-E436-2667-D19D-AC9703C430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7B362EF-AB95-2E7B-F7E8-4AE989C19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US" sz="2000" dirty="0"/>
              <a:t>Sanction count be row.</a:t>
            </a:r>
          </a:p>
          <a:p>
            <a:r>
              <a:rPr lang="en-US" sz="2000" dirty="0"/>
              <a:t>Most of them have 2 sanctions.</a:t>
            </a:r>
          </a:p>
        </p:txBody>
      </p:sp>
      <p:pic>
        <p:nvPicPr>
          <p:cNvPr id="5" name="Content Placeholder 4" descr="The image depicts a snippet of Python code, specifically a DataFrame operation where the 'Sanctions_Count' column is populated by counting the number of entries separated by '|' in the 'Sanctions Imposed' column, and then the maximum count and distribution of these counts are displayed.&#10;&#10;AI-generated content may be incorrect.">
            <a:extLst>
              <a:ext uri="{FF2B5EF4-FFF2-40B4-BE49-F238E27FC236}">
                <a16:creationId xmlns:a16="http://schemas.microsoft.com/office/drawing/2014/main" id="{07EB0EBE-506C-F5D4-AB20-81E4D3C9F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1289815"/>
            <a:ext cx="5725584" cy="4272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8569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CBE10B-0226-36F4-E618-A93BCE95F2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CFADC-FF25-313E-3C3E-9C115547C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All the sanctions and their counts.</a:t>
            </a:r>
          </a:p>
        </p:txBody>
      </p:sp>
      <p:pic>
        <p:nvPicPr>
          <p:cNvPr id="5" name="Picture 4" descr="The image displays a table listing various types of sanctions and their respective counts.&#10;&#10;AI-generated content may be incorrect.">
            <a:extLst>
              <a:ext uri="{FF2B5EF4-FFF2-40B4-BE49-F238E27FC236}">
                <a16:creationId xmlns:a16="http://schemas.microsoft.com/office/drawing/2014/main" id="{D802C6E1-B4DD-ADF0-A41F-EE3B3D4515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1401654"/>
            <a:ext cx="5725584" cy="4048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51350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AD404-409A-0BDD-FFF5-6141CE55D6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53400" y="1128094"/>
            <a:ext cx="3434180" cy="1415270"/>
          </a:xfrm>
        </p:spPr>
        <p:txBody>
          <a:bodyPr anchor="t">
            <a:normAutofit/>
          </a:bodyPr>
          <a:lstStyle/>
          <a:p>
            <a:endParaRPr lang="en-GB" sz="32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ED7575E-88D2-B771-681D-46A7E55415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576457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The image shows a snippet of code in Python, specifically a loop that checks for different separators (like commas, slashes, semicolons, etc.) in a column labeled 'Nationality(/ies)' of a DataFrame. It counts the number of occurrences of each separator and prints them out, along with some examples of nationalities containing these separators.&#10;&#10;AI-generated content may be incorrect.">
            <a:extLst>
              <a:ext uri="{FF2B5EF4-FFF2-40B4-BE49-F238E27FC236}">
                <a16:creationId xmlns:a16="http://schemas.microsoft.com/office/drawing/2014/main" id="{8D37E294-7530-BB17-1DD0-0D8EBF93C7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5243" y="702366"/>
            <a:ext cx="3589878" cy="5459890"/>
          </a:xfrm>
          <a:prstGeom prst="rect">
            <a:avLst/>
          </a:prstGeom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49EDD1B-F94D-B4E6-ACAA-566B9A26FD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9939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BE7B49-7B20-3E67-9A9E-44CD4C7A6C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53400" y="2543364"/>
            <a:ext cx="3434180" cy="3599019"/>
          </a:xfrm>
        </p:spPr>
        <p:txBody>
          <a:bodyPr>
            <a:normAutofit/>
          </a:bodyPr>
          <a:lstStyle/>
          <a:p>
            <a:r>
              <a:rPr lang="en-GB" sz="2000" dirty="0"/>
              <a:t>Digging deeper into Nationality column for Multi-nationality.</a:t>
            </a:r>
          </a:p>
          <a:p>
            <a:r>
              <a:rPr lang="en-GB" sz="2000" dirty="0"/>
              <a:t>All False positives.</a:t>
            </a:r>
          </a:p>
        </p:txBody>
      </p:sp>
    </p:spTree>
    <p:extLst>
      <p:ext uri="{BB962C8B-B14F-4D97-AF65-F5344CB8AC3E}">
        <p14:creationId xmlns:p14="http://schemas.microsoft.com/office/powerpoint/2010/main" val="42448173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72D934-2ECA-18F1-8241-F2783BC7A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3B8BDEAB-CB91-999A-11B9-DAAC78BE1A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US" sz="2000" dirty="0"/>
              <a:t>Dissecting Passport info.</a:t>
            </a:r>
          </a:p>
          <a:p>
            <a:r>
              <a:rPr lang="en-US" sz="2000" dirty="0"/>
              <a:t>Mange to extract Issuing country.</a:t>
            </a:r>
          </a:p>
          <a:p>
            <a:r>
              <a:rPr lang="en-US" sz="2000" dirty="0"/>
              <a:t>Issue dates.</a:t>
            </a:r>
          </a:p>
          <a:p>
            <a:r>
              <a:rPr lang="en-US" sz="2000" dirty="0"/>
              <a:t>Expiry dates.</a:t>
            </a:r>
          </a:p>
          <a:p>
            <a:r>
              <a:rPr lang="en-US" sz="2000" dirty="0"/>
              <a:t>Issuing cities.</a:t>
            </a:r>
          </a:p>
        </p:txBody>
      </p:sp>
      <p:pic>
        <p:nvPicPr>
          <p:cNvPr id="5" name="Content Placeholder 4" descr="Image content: Not applicable (no image provided).&#10;&#10;AI-generated content may be incorrect.">
            <a:extLst>
              <a:ext uri="{FF2B5EF4-FFF2-40B4-BE49-F238E27FC236}">
                <a16:creationId xmlns:a16="http://schemas.microsoft.com/office/drawing/2014/main" id="{FC2C70B7-1C53-8767-B73A-D8453B7DAE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3048" y="637762"/>
            <a:ext cx="5690581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8452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1901D-C78D-9339-BD3B-B96B9E07A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79B94C-8794-EAD6-E4B3-519DDBE440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Separate columns created with passport info, based on previous slides.</a:t>
            </a:r>
          </a:p>
        </p:txBody>
      </p:sp>
      <p:pic>
        <p:nvPicPr>
          <p:cNvPr id="5" name="Picture 4" descr="The image displays a list of Afghan passport records, detailing the passport number, issuance, and expiration dates for multiple individuals, all issued in Kandahar.&#10;&#10;AI-generated content may be incorrect.">
            <a:extLst>
              <a:ext uri="{FF2B5EF4-FFF2-40B4-BE49-F238E27FC236}">
                <a16:creationId xmlns:a16="http://schemas.microsoft.com/office/drawing/2014/main" id="{91903DD7-3007-5599-C0C8-E083649C39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1547913"/>
            <a:ext cx="5725584" cy="3756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2491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A8E14B-18EC-9593-A912-2871B1422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627274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495575-9F91-1B0D-7D92-A3153943D0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80828"/>
            <a:ext cx="2916406" cy="3633699"/>
          </a:xfrm>
        </p:spPr>
        <p:txBody>
          <a:bodyPr>
            <a:normAutofit/>
          </a:bodyPr>
          <a:lstStyle/>
          <a:p>
            <a:r>
              <a:rPr lang="en-GB" sz="2000" dirty="0"/>
              <a:t>Subsidiaries investigation.</a:t>
            </a:r>
          </a:p>
          <a:p>
            <a:endParaRPr lang="en-GB" sz="2000" dirty="0"/>
          </a:p>
        </p:txBody>
      </p:sp>
      <p:pic>
        <p:nvPicPr>
          <p:cNvPr id="5" name="Picture 4" descr="The image displays a data table with a list of subsidiaries, their counts, and associated company names.&#10;&#10;AI-generated content may be incorrect.">
            <a:extLst>
              <a:ext uri="{FF2B5EF4-FFF2-40B4-BE49-F238E27FC236}">
                <a16:creationId xmlns:a16="http://schemas.microsoft.com/office/drawing/2014/main" id="{6EA3C679-8249-8127-119D-D3579CA79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547" y="1193169"/>
            <a:ext cx="5725584" cy="4465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6014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2B961-25C1-C5A3-3AE3-9D137008AD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9862" y="4465674"/>
            <a:ext cx="4786138" cy="1663995"/>
          </a:xfrm>
        </p:spPr>
        <p:txBody>
          <a:bodyPr anchor="t">
            <a:normAutofit/>
          </a:bodyPr>
          <a:lstStyle/>
          <a:p>
            <a:pPr algn="ctr"/>
            <a:endParaRPr lang="en-GB" sz="3200">
              <a:solidFill>
                <a:schemeClr val="bg1">
                  <a:alpha val="6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6BBE4-B60C-27E8-D2CE-96C88B1702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8459" y="818707"/>
            <a:ext cx="3131288" cy="5310963"/>
          </a:xfrm>
        </p:spPr>
        <p:txBody>
          <a:bodyPr anchor="ctr">
            <a:normAutofit/>
          </a:bodyPr>
          <a:lstStyle/>
          <a:p>
            <a:r>
              <a:rPr lang="en-GB" sz="2000" dirty="0"/>
              <a:t>Designation type counts.</a:t>
            </a:r>
          </a:p>
        </p:txBody>
      </p:sp>
      <p:pic>
        <p:nvPicPr>
          <p:cNvPr id="5" name="Picture 4" descr="The image displays a Pandas DataFrame showing the count of different designation types: 'Entity' (29762), 'Individual' (26414), and 'Ship' (857).&#10;&#10;AI-generated content may be incorrect.">
            <a:extLst>
              <a:ext uri="{FF2B5EF4-FFF2-40B4-BE49-F238E27FC236}">
                <a16:creationId xmlns:a16="http://schemas.microsoft.com/office/drawing/2014/main" id="{624B1A96-B388-A1D0-2145-162D29A738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20209" y="2237847"/>
            <a:ext cx="4775791" cy="19397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804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1EB74-4946-0B82-41AC-D7705DE565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28990" y="637763"/>
            <a:ext cx="2916358" cy="1495758"/>
          </a:xfrm>
        </p:spPr>
        <p:txBody>
          <a:bodyPr anchor="t">
            <a:normAutofit/>
          </a:bodyPr>
          <a:lstStyle/>
          <a:p>
            <a:endParaRPr lang="en-GB" sz="40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75368E-5B21-937D-B34C-984FE268D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28937" y="2500975"/>
            <a:ext cx="2916412" cy="3675988"/>
          </a:xfrm>
        </p:spPr>
        <p:txBody>
          <a:bodyPr>
            <a:normAutofit/>
          </a:bodyPr>
          <a:lstStyle/>
          <a:p>
            <a:r>
              <a:rPr lang="en-GB" sz="2000" dirty="0"/>
              <a:t>Total sanctions of every entity is extracted.</a:t>
            </a:r>
          </a:p>
        </p:txBody>
      </p:sp>
      <p:pic>
        <p:nvPicPr>
          <p:cNvPr id="5" name="Picture 4" descr="The image contains a list of companies, their unique identifiers, and the number of total sanctions imposed on them, with Iran and Russia being prominent among the entities.&#10;&#10;AI-generated content may be incorrect.">
            <a:extLst>
              <a:ext uri="{FF2B5EF4-FFF2-40B4-BE49-F238E27FC236}">
                <a16:creationId xmlns:a16="http://schemas.microsoft.com/office/drawing/2014/main" id="{786C7143-2F95-A1DD-B087-ABE4C436E14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0" r="2" b="4322"/>
          <a:stretch>
            <a:fillRect/>
          </a:stretch>
        </p:blipFill>
        <p:spPr>
          <a:xfrm>
            <a:off x="1155547" y="637762"/>
            <a:ext cx="5725584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676314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B6B38-58F5-07A7-3FFF-5EB4E242C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5557" y="637763"/>
            <a:ext cx="4310698" cy="1627274"/>
          </a:xfrm>
        </p:spPr>
        <p:txBody>
          <a:bodyPr anchor="t">
            <a:normAutofit/>
          </a:bodyPr>
          <a:lstStyle/>
          <a:p>
            <a:endParaRPr lang="en-GB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F77FF6-05B7-1CF8-6414-F8A229B83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56" y="2581065"/>
            <a:ext cx="4284416" cy="3633467"/>
          </a:xfrm>
        </p:spPr>
        <p:txBody>
          <a:bodyPr>
            <a:normAutofit/>
          </a:bodyPr>
          <a:lstStyle/>
          <a:p>
            <a:r>
              <a:rPr lang="en-GB" sz="2000" dirty="0"/>
              <a:t>Unique names for every Unique ID’s and their count.</a:t>
            </a:r>
          </a:p>
        </p:txBody>
      </p:sp>
      <p:pic>
        <p:nvPicPr>
          <p:cNvPr id="5" name="Picture 4" descr="A table listing the top 20 unique identifiers and their count of distinct names.&#10;&#10;AI-generated content may be incorrect.">
            <a:extLst>
              <a:ext uri="{FF2B5EF4-FFF2-40B4-BE49-F238E27FC236}">
                <a16:creationId xmlns:a16="http://schemas.microsoft.com/office/drawing/2014/main" id="{2F20B35A-5447-BE60-0EBD-D8C565ABD7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9464" y="1345249"/>
            <a:ext cx="4305891" cy="4161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1165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E72E26-2C0B-59A7-15EA-823F64BB7C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84915"/>
            <a:ext cx="4651076" cy="1951075"/>
          </a:xfrm>
          <a:noFill/>
        </p:spPr>
        <p:txBody>
          <a:bodyPr anchor="t">
            <a:normAutofit/>
          </a:bodyPr>
          <a:lstStyle/>
          <a:p>
            <a:endParaRPr lang="en-GB" sz="480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8B547D-78E8-6227-7720-9E770B5CC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684921"/>
            <a:ext cx="5674107" cy="1951087"/>
          </a:xfrm>
          <a:noFill/>
        </p:spPr>
        <p:txBody>
          <a:bodyPr anchor="t">
            <a:normAutofit/>
          </a:bodyPr>
          <a:lstStyle/>
          <a:p>
            <a:r>
              <a:rPr lang="en-GB" sz="1800" dirty="0"/>
              <a:t>There are multiple designations for one sanction with pipe separator.</a:t>
            </a:r>
          </a:p>
          <a:p>
            <a:r>
              <a:rPr lang="en-GB" sz="1800" dirty="0"/>
              <a:t>Extracted number of designation for every sanction and their values with are stored in separate columns.</a:t>
            </a:r>
          </a:p>
        </p:txBody>
      </p:sp>
      <p:pic>
        <p:nvPicPr>
          <p:cNvPr id="5" name="Picture 4" descr="The image displays a table listing various designations (e.g., UN, 1, 2, 3, 4, 45, 5, 6, 7, 8, 9) with their corresponding numbers, suggesting a catalog or reference system.&#10;&#10;AI-generated content may be incorrect.">
            <a:extLst>
              <a:ext uri="{FF2B5EF4-FFF2-40B4-BE49-F238E27FC236}">
                <a16:creationId xmlns:a16="http://schemas.microsoft.com/office/drawing/2014/main" id="{CF56C2AF-1E3D-1EEA-B9CC-515A766E8E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" b="11081"/>
          <a:stretch>
            <a:fillRect/>
          </a:stretch>
        </p:blipFill>
        <p:spPr>
          <a:xfrm>
            <a:off x="629638" y="2708781"/>
            <a:ext cx="10848063" cy="3496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55830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AE3CE-7681-7B36-B595-E92D236C83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3365" y="181569"/>
            <a:ext cx="10457302" cy="1063032"/>
          </a:xfrm>
        </p:spPr>
        <p:txBody>
          <a:bodyPr anchor="b">
            <a:normAutofit/>
          </a:bodyPr>
          <a:lstStyle/>
          <a:p>
            <a:pPr latinLnBrk="1">
              <a:buNone/>
            </a:pPr>
            <a:r>
              <a:rPr lang="en-GB" b="0" i="0" dirty="0">
                <a:effectLst/>
                <a:latin typeface="menlo"/>
              </a:rPr>
              <a:t>Information from Last Updated Column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E307C35E-3799-4970-1904-48B17484E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412318" y="1757680"/>
            <a:ext cx="9367363" cy="4051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5197749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CD4A56-A945-2BB8-5B6C-2F554BB20B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2096" y="173183"/>
            <a:ext cx="10020689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Information from Date Designated column.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903FC632-12EE-0EFC-1E0B-9BC7731C25C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5655" y="1825625"/>
            <a:ext cx="100206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440916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B4AC6-3005-4D24-6829-7AE3A762E5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0831" y="122383"/>
            <a:ext cx="9886502" cy="144838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Age distribution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51DC0F83-B68C-E54C-5302-10AF34879C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85655" y="1825625"/>
            <a:ext cx="10020689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46727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2F0DB-0E8B-A19F-497D-82B11F196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799" y="637763"/>
            <a:ext cx="3894667" cy="1495758"/>
          </a:xfrm>
        </p:spPr>
        <p:txBody>
          <a:bodyPr anchor="t">
            <a:normAutofit fontScale="90000"/>
          </a:bodyPr>
          <a:lstStyle/>
          <a:p>
            <a:r>
              <a:rPr lang="en-GB" sz="4000" dirty="0"/>
              <a:t>Final Consolidated Data</a:t>
            </a:r>
          </a:p>
        </p:txBody>
      </p:sp>
      <p:pic>
        <p:nvPicPr>
          <p:cNvPr id="5" name="Picture 4" descr="A CSV file is being prepared with selected columns from a dataset, excluding any missing columns.&#10;&#10;AI-generated content may be incorrect.">
            <a:extLst>
              <a:ext uri="{FF2B5EF4-FFF2-40B4-BE49-F238E27FC236}">
                <a16:creationId xmlns:a16="http://schemas.microsoft.com/office/drawing/2014/main" id="{90572214-7A42-AD8C-1381-AC40A005CC4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9917" b="-1"/>
          <a:stretch>
            <a:fillRect/>
          </a:stretch>
        </p:blipFill>
        <p:spPr>
          <a:xfrm>
            <a:off x="1155547" y="637762"/>
            <a:ext cx="5725584" cy="5576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49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88629-5F0B-03DB-8185-46D34E663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84590" y="1863952"/>
            <a:ext cx="3605810" cy="6506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dirty="0"/>
              <a:t>Sanctions and their counts.</a:t>
            </a:r>
          </a:p>
        </p:txBody>
      </p:sp>
      <p:pic>
        <p:nvPicPr>
          <p:cNvPr id="6146" name="Picture 2">
            <a:extLst>
              <a:ext uri="{FF2B5EF4-FFF2-40B4-BE49-F238E27FC236}">
                <a16:creationId xmlns:a16="http://schemas.microsoft.com/office/drawing/2014/main" id="{1734FEF3-B7B1-4681-EB62-6F636551EA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" b="6753"/>
          <a:stretch>
            <a:fillRect/>
          </a:stretch>
        </p:blipFill>
        <p:spPr bwMode="auto">
          <a:xfrm>
            <a:off x="778015" y="516467"/>
            <a:ext cx="7587052" cy="55891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074100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41988-68F2-5DCD-4D0D-B00D504219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54622" y="361052"/>
            <a:ext cx="6955511" cy="1256081"/>
          </a:xfrm>
        </p:spPr>
        <p:txBody>
          <a:bodyPr>
            <a:normAutofit/>
          </a:bodyPr>
          <a:lstStyle/>
          <a:p>
            <a:r>
              <a:rPr lang="en-GB" sz="1600" dirty="0"/>
              <a:t>Distributions of sanctions for each row.</a:t>
            </a:r>
          </a:p>
          <a:p>
            <a:r>
              <a:rPr lang="en-GB" sz="1600" dirty="0"/>
              <a:t>ECDF graph showing % change of </a:t>
            </a:r>
            <a:r>
              <a:rPr lang="en-GB" sz="1600" dirty="0" err="1"/>
              <a:t>sacntions</a:t>
            </a:r>
            <a:r>
              <a:rPr lang="en-GB" sz="1600" dirty="0"/>
              <a:t>.</a:t>
            </a:r>
          </a:p>
        </p:txBody>
      </p:sp>
      <p:pic>
        <p:nvPicPr>
          <p:cNvPr id="5" name="Picture 4" descr="The image displays a cumulative distribution function (ECDF) for the number of sanctions, ranging from 0 to 8, with values on the y-axis and sanction counts on the x-axis, illustrating the proportion of entities receiving up to a certain number of sanctions.&#10;&#10;AI-generated content may be incorrect.">
            <a:extLst>
              <a:ext uri="{FF2B5EF4-FFF2-40B4-BE49-F238E27FC236}">
                <a16:creationId xmlns:a16="http://schemas.microsoft.com/office/drawing/2014/main" id="{EF70B914-815B-B92C-9C84-C008159E59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746" y="1848532"/>
            <a:ext cx="11400508" cy="378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045744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A8B84-5662-CF3B-D182-231228E614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3799" y="2998259"/>
            <a:ext cx="4419600" cy="1325563"/>
          </a:xfrm>
        </p:spPr>
        <p:txBody>
          <a:bodyPr/>
          <a:lstStyle/>
          <a:p>
            <a:r>
              <a:rPr lang="en-GB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183069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105</TotalTime>
  <Words>410</Words>
  <Application>Microsoft Office PowerPoint</Application>
  <PresentationFormat>Widescreen</PresentationFormat>
  <Paragraphs>58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Arial</vt:lpstr>
      <vt:lpstr>Calibri</vt:lpstr>
      <vt:lpstr>Calibri Light</vt:lpstr>
      <vt:lpstr>menlo</vt:lpstr>
      <vt:lpstr>Office Theme</vt:lpstr>
      <vt:lpstr>Malverde</vt:lpstr>
      <vt:lpstr>Data Types given</vt:lpstr>
      <vt:lpstr>PowerPoint Presentation</vt:lpstr>
      <vt:lpstr>PowerPoint Presentation</vt:lpstr>
      <vt:lpstr>After Investigation.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Information from Last Updated Column</vt:lpstr>
      <vt:lpstr>Information from Date Designated column.</vt:lpstr>
      <vt:lpstr>Age distribution</vt:lpstr>
      <vt:lpstr>Final Consolidated Data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 Muneshwar</dc:creator>
  <cp:lastModifiedBy>Nikhil  Muneshwar</cp:lastModifiedBy>
  <cp:revision>5</cp:revision>
  <dcterms:created xsi:type="dcterms:W3CDTF">2026-05-08T08:45:55Z</dcterms:created>
  <dcterms:modified xsi:type="dcterms:W3CDTF">2026-05-08T10:31:34Z</dcterms:modified>
</cp:coreProperties>
</file>